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MULTIMODAL SYNTHETIC IDENTITY FRAUD DETECTION</a:t>
            </a:r>
          </a:p>
          <a:p>
            <a:pPr>
              <a:spcAft>
                <a:spcPts val="2500"/>
              </a:spcAft>
              <a:defRPr sz="1700" b="1">
                <a:solidFill>
                  <a:srgbClr val="2563EB"/>
                </a:solidFill>
              </a:defRPr>
            </a:pPr>
            <a:r>
              <a:t>Real-Time Machine Learning Framework for Digital Lending Onboarding</a:t>
            </a:r>
          </a:p>
          <a:p>
            <a:pPr>
              <a:defRPr sz="1350">
                <a:solidFill>
                  <a:srgbClr val="CBD5E1"/>
                </a:solidFill>
              </a:defRPr>
            </a:pPr>
            <a:r>
              <a:t>IEEE Academic Research Presentation — BFSI / AI-ML Domain</a:t>
            </a:r>
            <a:br/>
            <a:r>
              <a:t>Dataset: 10,000 Applications | 20 Multimodal Signals | 5-Fold Stratified CV (AUC = 0.9061)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IEEE / ACADEMIC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Summary &amp; Industry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The Threat: Synthetic Identity Fraud (SIF)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SIF combines real PII (valid PAN) with fake credentials (burner phone, fake address).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Fastest-growing financial crime category in digital lending onboarding.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Standard rule-based KYC systems fail because field-level queries pass database matches.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No individual victim exists initially to trigger fraud alerts (credit bust-out risk).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422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Our Research Solution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Multimodal Signal Fusion: Combines KYC matching, identity age, behavioral biometrics, and device velocity.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20 Research Signals: Engineered features capturing timing variance, paste actions, and graph centrality.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5-Model Benchmark Suite: Evaluates LR, DT, RF, HistGBDT, and MLP Neural Networks via 5-Fold CV.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Production Performance: Achieves ROC-AUC 0.9061 and Fraud Precision 0.9562.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IEEE / ACADEMIC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20-Signal Feature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1. KYC &amp; Document Matching (5)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name_address_mismatch_score (Distance metric)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dob_pan_mismatch (DOB vs PAN flag)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document_reuse_count (Historical image reuse)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ssn_pan_issuance_gap_years (ID age gap)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commercial_address_flag (Commercial mailbox)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42255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2. Identity Freshness &amp; Bureau (5)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phone_age_days (Mobile line subscription age)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email_age_days (Domain/account age)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credit_bureau_hit (Bureau record existence)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bureau_file_depth_months (Tradeline depth)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social_footprint_score (Digital presence)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3. Behavioral Biometrics (5)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session_fill_time_sec (Form fill duration)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typing_speed_variance (Keypress cadence)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backspace_count (Edit/delete activity)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paste_event_ratio (Clipboard paste ratio)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field_hesitation_ms (Pause before key fields)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023360"/>
            <a:ext cx="5242255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4. Device &amp; Network Telemetry (5)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device_reuse_across_apps (Identities on device)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application_velocity_24h (Apps from IP in 24h)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ip_geolocation_mismatch (IP vs Address)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identity_graph_degree_centrality (Graph node degree)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subnet_risk_score (Subnet fraud score)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IEEE / ACADEMIC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5-Fold Cross-Validation Benchmark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73152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Top Performing Architecture (Balanced Random Forest): ROC-AUC = 0.9061 | PR-AUC = 0.8448 | Fraud F1 = 0.8704</a:t>
            </a:r>
          </a:p>
        </p:txBody>
      </p:sp>
      <p:pic>
        <p:nvPicPr>
          <p:cNvPr id="4" name="Picture 3" descr="radar_model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1072865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IEEE / ACADEMIC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Multi-Model ROC &amp; Precision-Recall Curves</a:t>
            </a:r>
          </a:p>
        </p:txBody>
      </p:sp>
      <p:pic>
        <p:nvPicPr>
          <p:cNvPr id="3" name="Picture 2" descr="roc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4846320"/>
          </a:xfrm>
          <a:prstGeom prst="rect">
            <a:avLst/>
          </a:prstGeom>
        </p:spPr>
      </p:pic>
      <p:pic>
        <p:nvPicPr>
          <p:cNvPr id="4" name="Picture 3" descr="pr_cur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1206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IEEE / ACADEMIC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Feature Attribution Analysis across 20 Signals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72865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IEEE / ACADEMIC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Conclusion &amp; Future Research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Research Conclusions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Multimodal Risk Fusion Works: Blending KYC matching, identity age, and behavioral telemetry isolates synthetic identities with 0.95 precision.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Identity Freshness is Primary: Email and phone age constitute the single strongest predictors of synthetic fabrication.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Operational Readiness: Production Random Forest model achieves high throughput for instant digital lending onboarding pipelines.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422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Future Research Roadmap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Heterogeneous Graph Neural Networks (HGNNs): Construct entity resolution graphs to link shared attributes across inter-bank databases.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Real-Time Client Biometrics SDK: Capture live keystroke dynamics and cursor trajectory via JavaScript telemetry.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Live Bank Dataset Retraining: Fine-tune risk thresholds on live anonymized banking transaction feeds.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