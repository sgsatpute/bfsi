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1280160"/>
            <a:ext cx="10362895" cy="4297680"/>
          </a:xfrm>
          <a:prstGeom prst="rect">
            <a:avLst/>
          </a:prstGeom>
          <a:solidFill>
            <a:srgbClr val="0F172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EXPLAINABLE SYNTHETIC IDENTITY FRAUD DETECTION</a:t>
            </a:r>
          </a:p>
          <a:p>
            <a:pPr>
              <a:spcAft>
                <a:spcPts val="2000"/>
              </a:spcAft>
              <a:defRPr sz="1600" b="1">
                <a:solidFill>
                  <a:srgbClr val="2563EB"/>
                </a:solidFill>
              </a:defRPr>
            </a:pPr>
            <a:r>
              <a:t>Human-Centered Risk Engine for Digital Lending Onboarding</a:t>
            </a:r>
          </a:p>
          <a:p>
            <a:pPr>
              <a:defRPr sz="1300">
                <a:solidFill>
                  <a:srgbClr val="CBD5E1"/>
                </a:solidFill>
              </a:defRPr>
            </a:pPr>
            <a:r>
              <a:t>Live App Portal: https://sgsatpute-bfsi-appdashboard-ikfuca.streamlit.app/</a:t>
            </a:r>
            <a:br/>
            <a:r>
              <a:t>GitHub: https://github.com/sgsatpute/bfsi</a:t>
            </a:r>
            <a:br/>
            <a:r>
              <a:t>Dataset: 10,000 Applications | 20 Signals | 5-Fold Stratified CV (AUC = 0.9061)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8686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91440"/>
          <a:lstStyle/>
          <a:p>
            <a:pPr algn="ctr">
              <a:defRPr sz="950" b="1">
                <a:solidFill>
                  <a:srgbClr val="2563EB"/>
                </a:solidFill>
              </a:defRPr>
            </a:pPr>
            <a:r>
              <a:t>BFSI / AI-ML RESEARCH PRESENTATION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The Threat: Synthetic Identity Fraud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20640" cy="48463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64592"/>
          <a:lstStyle/>
          <a:p>
            <a:pPr algn="ctr">
              <a:spcAft>
                <a:spcPts val="800"/>
              </a:spcAft>
              <a:defRPr sz="1400" b="1">
                <a:solidFill>
                  <a:srgbClr val="0F172A"/>
                </a:solidFill>
              </a:defRPr>
            </a:pPr>
            <a:r>
              <a:t>Why Static KYC Fails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</a:defRPr>
            </a:pPr>
            <a:r>
              <a:t>• Synthetic Fraud: Real PII (PAN tax ID) + Fake Contact (burner phone, synthetic email, fake address).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</a:defRPr>
            </a:pPr>
            <a:r>
              <a:t>• Single-Field Query Bypass: Static database queries check PAN in isolation and return 'PASS'.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</a:defRPr>
            </a:pPr>
            <a:r>
              <a:t>• No Immediate Victim: Fraudsters build credit for months before maxing loans ('bust-out') and vanishing.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</a:defRPr>
            </a:pPr>
            <a:r>
              <a:t>• Growth Rate: Fastest-growing financial crime in digital lending.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463040"/>
            <a:ext cx="5242255" cy="48463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64592"/>
          <a:lstStyle/>
          <a:p>
            <a:pPr algn="ctr">
              <a:spcAft>
                <a:spcPts val="800"/>
              </a:spcAft>
              <a:defRPr sz="1400" b="1">
                <a:solidFill>
                  <a:srgbClr val="0F172A"/>
                </a:solidFill>
              </a:defRPr>
            </a:pPr>
            <a:r>
              <a:t>Our Multimodal AI Solution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</a:defRPr>
            </a:pPr>
            <a:r>
              <a:t>• Fuses 20 Signals across 4 Categories: KYC Matching, Identity Freshness, Behavioral Habits, Device Telemetry.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</a:defRPr>
            </a:pPr>
            <a:r>
              <a:t>• Machine Learning Engine: Random Forest tuned with class weighting (5-Fold CV AUC = 0.9061).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</a:defRPr>
            </a:pPr>
            <a:r>
              <a:t>• Explainable AI Diagnosis: Translates risk scores into plain-English red flag alerts for underwriters.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</a:defRPr>
            </a:pPr>
            <a:r>
              <a:t>• Real-Time Action Bands: Low (&lt;30% Auto-Approve), Medium (30-60% Video KYC), High (&gt;60% Block).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8686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91440"/>
          <a:lstStyle/>
          <a:p>
            <a:pPr algn="ctr">
              <a:defRPr sz="950" b="1">
                <a:solidFill>
                  <a:srgbClr val="2563EB"/>
                </a:solidFill>
              </a:defRPr>
            </a:pPr>
            <a:r>
              <a:t>BFSI / AI-ML RESEARCH PRESENTATION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20 Multimodal Signal Dictionary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20640" cy="23774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64592"/>
          <a:lstStyle/>
          <a:p>
            <a:pPr algn="ctr">
              <a:spcAft>
                <a:spcPts val="800"/>
              </a:spcAft>
              <a:defRPr sz="1400" b="1">
                <a:solidFill>
                  <a:srgbClr val="0F172A"/>
                </a:solidFill>
              </a:defRPr>
            </a:pPr>
            <a:r>
              <a:t>1. KYC &amp; Document Matching (5)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</a:defRPr>
            </a:pPr>
            <a:r>
              <a:t>• name_address_mismatch_score (Distance)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</a:defRPr>
            </a:pPr>
            <a:r>
              <a:t>• dob_pan_mismatch (DOB vs PAN flag)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</a:defRPr>
            </a:pPr>
            <a:r>
              <a:t>• document_reuse_count (Historical reuse)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</a:defRPr>
            </a:pPr>
            <a:r>
              <a:t>• ssn_pan_issuance_gap_years (ID age gap)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</a:defRPr>
            </a:pPr>
            <a:r>
              <a:t>• commercial_address_flag (Mailbox flag)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463040"/>
            <a:ext cx="5242255" cy="23774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64592"/>
          <a:lstStyle/>
          <a:p>
            <a:pPr algn="ctr">
              <a:spcAft>
                <a:spcPts val="800"/>
              </a:spcAft>
              <a:defRPr sz="1400" b="1">
                <a:solidFill>
                  <a:srgbClr val="0F172A"/>
                </a:solidFill>
              </a:defRPr>
            </a:pPr>
            <a:r>
              <a:t>2. Identity Freshness &amp; Bureau (5)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</a:defRPr>
            </a:pPr>
            <a:r>
              <a:t>• phone_age_days (Mobile subscription age)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</a:defRPr>
            </a:pPr>
            <a:r>
              <a:t>• email_age_days (Domain/account age)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</a:defRPr>
            </a:pPr>
            <a:r>
              <a:t>• credit_bureau_hit (Bureau file hit)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</a:defRPr>
            </a:pPr>
            <a:r>
              <a:t>• bureau_file_depth_months (Tradelines)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</a:defRPr>
            </a:pPr>
            <a:r>
              <a:t>• social_footprint_score (Digital footprint)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023360"/>
            <a:ext cx="5120640" cy="22860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64592"/>
          <a:lstStyle/>
          <a:p>
            <a:pPr algn="ctr">
              <a:spcAft>
                <a:spcPts val="800"/>
              </a:spcAft>
              <a:defRPr sz="1400" b="1">
                <a:solidFill>
                  <a:srgbClr val="0F172A"/>
                </a:solidFill>
              </a:defRPr>
            </a:pPr>
            <a:r>
              <a:t>3. Behavioral Biometrics (5)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</a:defRPr>
            </a:pPr>
            <a:r>
              <a:t>• session_fill_time_sec (Fill duration)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</a:defRPr>
            </a:pPr>
            <a:r>
              <a:t>• typing_speed_variance (Keypress cadence)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</a:defRPr>
            </a:pPr>
            <a:r>
              <a:t>• backspace_count (Edit keypresses)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</a:defRPr>
            </a:pPr>
            <a:r>
              <a:t>• paste_event_ratio (Clipboard paste ratio)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</a:defRPr>
            </a:pPr>
            <a:r>
              <a:t>• field_hesitation_ms (Pause duration)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4023360"/>
            <a:ext cx="5242255" cy="22860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64592"/>
          <a:lstStyle/>
          <a:p>
            <a:pPr algn="ctr">
              <a:spcAft>
                <a:spcPts val="800"/>
              </a:spcAft>
              <a:defRPr sz="1400" b="1">
                <a:solidFill>
                  <a:srgbClr val="0F172A"/>
                </a:solidFill>
              </a:defRPr>
            </a:pPr>
            <a:r>
              <a:t>4. Device &amp; Network Telemetry (5)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</a:defRPr>
            </a:pPr>
            <a:r>
              <a:t>• device_reuse_across_apps (Device apps)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</a:defRPr>
            </a:pPr>
            <a:r>
              <a:t>• application_velocity_24h (Velocity 24h)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</a:defRPr>
            </a:pPr>
            <a:r>
              <a:t>• ip_geolocation_mismatch (IP vs Address)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</a:defRPr>
            </a:pPr>
            <a:r>
              <a:t>• identity_graph_degree_centrality (Graph)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</a:defRPr>
            </a:pPr>
            <a:r>
              <a:t>• subnet_risk_score (Subnet risk score)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8686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91440"/>
          <a:lstStyle/>
          <a:p>
            <a:pPr algn="ctr">
              <a:defRPr sz="950" b="1">
                <a:solidFill>
                  <a:srgbClr val="2563EB"/>
                </a:solidFill>
              </a:defRPr>
            </a:pPr>
            <a:r>
              <a:t>BFSI / AI-ML RESEARCH PRESENTATION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Human-Centered Explainable AI (XAI) Portal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20640" cy="48463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64592"/>
          <a:lstStyle/>
          <a:p>
            <a:pPr algn="ctr">
              <a:spcAft>
                <a:spcPts val="800"/>
              </a:spcAft>
              <a:defRPr sz="1400" b="1">
                <a:solidFill>
                  <a:srgbClr val="0F172A"/>
                </a:solidFill>
              </a:defRPr>
            </a:pPr>
            <a:r>
              <a:t>Underwriter 3-Step Guided Workflow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</a:defRPr>
            </a:pPr>
            <a:r>
              <a:t>• STEP 1: Select Applicant Profile (1-Click Presets: Rohan Sharma, Ankit Verma, Fake Persona #892).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</a:defRPr>
            </a:pPr>
            <a:r>
              <a:t>• STEP 2: Click 'Analyze Loan Application Now'.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</a:defRPr>
            </a:pPr>
            <a:r>
              <a:t>• STEP 3: Read Plain-English Fraud Diagnosis &amp; Action Recommendation.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</a:defRPr>
            </a:pPr>
            <a:r>
              <a:t>• User Perspective: Zero complex slider friction required; all signals grouped into 4 clean accordions.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463040"/>
            <a:ext cx="5242255" cy="48463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64592"/>
          <a:lstStyle/>
          <a:p>
            <a:pPr algn="ctr">
              <a:spcAft>
                <a:spcPts val="800"/>
              </a:spcAft>
              <a:defRPr sz="1400" b="1">
                <a:solidFill>
                  <a:srgbClr val="0F172A"/>
                </a:solidFill>
              </a:defRPr>
            </a:pPr>
            <a:r>
              <a:t>Plain-English Red Flag Callouts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</a:defRPr>
            </a:pPr>
            <a:r>
              <a:t>• 🔴 Burner Phone Alert: Mobile subscription activated only 4 days ago.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</a:defRPr>
            </a:pPr>
            <a:r>
              <a:t>• 🔴 Scripted Form Fill: Application completed in 14 seconds (Bot pattern).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</a:defRPr>
            </a:pPr>
            <a:r>
              <a:t>• 🔴 Clipboard Copy-Paste: 92% of fields populated via copy-paste.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</a:defRPr>
            </a:pPr>
            <a:r>
              <a:t>• 🟢 Established Phone Line: Mobile subscription active for 3.3 years.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</a:defRPr>
            </a:pPr>
            <a:r>
              <a:t>• 🟢 Natural Typing Cadence: Realistic human form completion duration (270s).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8686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91440"/>
          <a:lstStyle/>
          <a:p>
            <a:pPr algn="ctr">
              <a:defRPr sz="950" b="1">
                <a:solidFill>
                  <a:srgbClr val="2563EB"/>
                </a:solidFill>
              </a:defRPr>
            </a:pPr>
            <a:r>
              <a:t>BFSI / AI-ML RESEARCH PRESENTATION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5-Fold Cross-Validation Model Benchmarks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728655" cy="731520"/>
          </a:xfrm>
          <a:prstGeom prst="rect">
            <a:avLst/>
          </a:prstGeom>
          <a:solidFill>
            <a:srgbClr val="0F172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50" b="1">
                <a:solidFill>
                  <a:srgbClr val="10B981"/>
                </a:solidFill>
              </a:defRPr>
            </a:pPr>
            <a:r>
              <a:t>Production Random Forest Model: ROC-AUC = 0.9061 | Precision = 0.9562 | Recall = 0.7988 | Fraud F1 = 0.8704</a:t>
            </a:r>
          </a:p>
        </p:txBody>
      </p:sp>
      <p:pic>
        <p:nvPicPr>
          <p:cNvPr id="4" name="Picture 3" descr="radar_model_bench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286000"/>
            <a:ext cx="10728655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8686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91440"/>
          <a:lstStyle/>
          <a:p>
            <a:pPr algn="ctr">
              <a:defRPr sz="950" b="1">
                <a:solidFill>
                  <a:srgbClr val="2563EB"/>
                </a:solidFill>
              </a:defRPr>
            </a:pPr>
            <a:r>
              <a:t>BFSI / AI-ML RESEARCH PRESENTATION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Multi-Model ROC &amp; Precision-Recall Curves</a:t>
            </a:r>
          </a:p>
        </p:txBody>
      </p:sp>
      <p:pic>
        <p:nvPicPr>
          <p:cNvPr id="3" name="Picture 2" descr="roc_curves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5120640" cy="4846320"/>
          </a:xfrm>
          <a:prstGeom prst="rect">
            <a:avLst/>
          </a:prstGeom>
        </p:spPr>
      </p:pic>
      <p:pic>
        <p:nvPicPr>
          <p:cNvPr id="4" name="Picture 3" descr="pr_curves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463040"/>
            <a:ext cx="512064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8686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91440"/>
          <a:lstStyle/>
          <a:p>
            <a:pPr algn="ctr">
              <a:defRPr sz="950" b="1">
                <a:solidFill>
                  <a:srgbClr val="2563EB"/>
                </a:solidFill>
              </a:defRPr>
            </a:pPr>
            <a:r>
              <a:t>BFSI / AI-ML RESEARCH PRESENTATION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Conclusion &amp; Live Production Portal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20640" cy="48463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64592"/>
          <a:lstStyle/>
          <a:p>
            <a:pPr algn="ctr">
              <a:spcAft>
                <a:spcPts val="800"/>
              </a:spcAft>
              <a:defRPr sz="1400" b="1">
                <a:solidFill>
                  <a:srgbClr val="0F172A"/>
                </a:solidFill>
              </a:defRPr>
            </a:pPr>
            <a:r>
              <a:t>Key Research Conclusions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</a:defRPr>
            </a:pPr>
            <a:r>
              <a:t>• Multimodal Risk Fusion Works: Fusing KYC document matching, identity age, and behavioral biometrics catches synthetic fraud with 0.86 Precision and 0.91 Recall.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</a:defRPr>
            </a:pPr>
            <a:r>
              <a:t>• Identity Age is Primary: Email and phone age are the single strongest predictors of synthetic fabrication.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</a:defRPr>
            </a:pPr>
            <a:r>
              <a:t>• High Discrimination: Achieves 0.9139 ROC-AUC across 10,000 synthetic applications.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463040"/>
            <a:ext cx="5242255" cy="48463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64592"/>
          <a:lstStyle/>
          <a:p>
            <a:pPr algn="ctr">
              <a:spcAft>
                <a:spcPts val="800"/>
              </a:spcAft>
              <a:defRPr sz="1400" b="1">
                <a:solidFill>
                  <a:srgbClr val="0F172A"/>
                </a:solidFill>
              </a:defRPr>
            </a:pPr>
            <a:r>
              <a:t>Live Production Deployment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</a:defRPr>
            </a:pPr>
            <a:r>
              <a:t>• Live Public Web Portal: https://sgsatpute-bfsi-appdashboard-ikfuca.streamlit.app/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</a:defRPr>
            </a:pPr>
            <a:r>
              <a:t>• GitHub Source Code: https://github.com/sgsatpute/bfsi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</a:defRPr>
            </a:pPr>
            <a:r>
              <a:t>• Formats Included: IEEE Research Paper (PDF/DOCX), 12-Slide PPTX, Class Proposal Blueprint, Simple Guide, and Submission ZIP Package.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